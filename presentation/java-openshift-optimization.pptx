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2926080"/>
            <a:ext cx="3200400" cy="3200400"/>
          </a:xfrm>
          <a:prstGeom prst="ellipse">
            <a:avLst/>
          </a:prstGeom>
          <a:solidFill>
            <a:srgbClr val="1E6FC8">
              <a:alpha val="18000"/>
            </a:srgbClr>
          </a:solidFill>
          <a:ln w="12700">
            <a:solidFill>
              <a:srgbClr val="1E6F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182880"/>
            <a:ext cx="2011680" cy="2011680"/>
          </a:xfrm>
          <a:prstGeom prst="ellipse">
            <a:avLst/>
          </a:prstGeom>
          <a:solidFill>
            <a:srgbClr val="00BCD4">
              <a:alpha val="12000"/>
            </a:srgbClr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00BCD4"/>
                </a:solidFill>
              </a:rPr>
              <a:t>TAMING THE JVM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772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CF0F1"/>
                </a:solidFill>
              </a:rPr>
              <a:t>Optimizing Java Workloads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CF0F1"/>
                </a:solidFill>
              </a:rPr>
              <a:t>on OpenShift &amp; Kubernetes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AE"/>
                </a:solidFill>
              </a:rPr>
              <a:t>Java 21 LTS  •  Container-aware heap sizing  •  G1GC / ZGC / Shenandoah  •  AppCDS  •  Virtual Threads  •  Observability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114800" cy="2743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429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A623"/>
                </a:solidFill>
              </a:rPr>
              <a:t>Based on: Optimizing Cloud Native Java  |  SRE with Java Microservices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60-Minute Deep Dive  •  OpenShift Commons / DevNation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4846320"/>
            <a:ext cx="84124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A4AE"/>
                </a:solidFill>
              </a:rPr>
              <a:t>github.com/[your-repo]/java-openshift-optimization-demos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Agenda  —  60 Minutes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Overview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2/26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804672"/>
            <a:ext cx="4206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804672"/>
            <a:ext cx="502920" cy="8686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804672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896112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Container-Native JVM Fundamentals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3898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6FC8"/>
                </a:solidFill>
              </a:rPr>
              <a:t>⏱ 8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00600" y="804672"/>
            <a:ext cx="4206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00600" y="804672"/>
            <a:ext cx="502920" cy="86868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804672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94960" y="896112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Right-Sizing Java Workloads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94960" y="13898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CD4"/>
                </a:solidFill>
              </a:rPr>
              <a:t>⏱ 6 min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1792224"/>
            <a:ext cx="4206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1792224"/>
            <a:ext cx="502920" cy="8686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792224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1883664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Garbage Collection Optimization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23774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A623"/>
                </a:solidFill>
              </a:rPr>
              <a:t>⏱ 8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0600" y="1792224"/>
            <a:ext cx="4206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00600" y="1792224"/>
            <a:ext cx="502920" cy="86868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1792224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394960" y="1883664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Startup Time Reduction (CDS / AppCDS)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94960" y="23774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7AE60"/>
                </a:solidFill>
              </a:rPr>
              <a:t>⏱ 7 min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" y="2779776"/>
            <a:ext cx="4206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2779776"/>
            <a:ext cx="502920" cy="868680"/>
          </a:xfrm>
          <a:prstGeom prst="rect">
            <a:avLst/>
          </a:prstGeom>
          <a:solidFill>
            <a:srgbClr val="E84855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2779776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4400" y="2871216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Observability &amp; Instrumentation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14400" y="3364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4855"/>
                </a:solidFill>
              </a:rPr>
              <a:t>⏱ 8 min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00600" y="2779776"/>
            <a:ext cx="4206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00600" y="2779776"/>
            <a:ext cx="502920" cy="8686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4" name="Text 32"/>
          <p:cNvSpPr/>
          <p:nvPr/>
        </p:nvSpPr>
        <p:spPr>
          <a:xfrm>
            <a:off x="4800600" y="2779776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394960" y="2871216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Autoscaling Integration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94960" y="3364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3AED"/>
                </a:solidFill>
              </a:rPr>
              <a:t>⏱ 6 min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040" y="3767328"/>
            <a:ext cx="4206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20040" y="3767328"/>
            <a:ext cx="502920" cy="8686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39" name="Text 37"/>
          <p:cNvSpPr/>
          <p:nvPr/>
        </p:nvSpPr>
        <p:spPr>
          <a:xfrm>
            <a:off x="320040" y="3767328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07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914400" y="3858768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Systematic Tuning Workflow &amp; Cost ROI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4400" y="4352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6FC8"/>
                </a:solidFill>
              </a:rPr>
              <a:t>⏱ 7 min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" y="4370832"/>
            <a:ext cx="8503920" cy="384048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57200" y="437083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E5C3"/>
                </a:solidFill>
              </a:rPr>
              <a:t>🎯  3 Live Demos: Container Heap Sizing  •  GC Monitoring with Prometheus + Jaeger traces  •  AppCDS Startup Acceleration  (10 min)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Why Java + Kubernetes = Complexity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The Problem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3/26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2011680" cy="118872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868680"/>
            <a:ext cx="201168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4855"/>
                </a:solidFill>
              </a:rPr>
              <a:t>60%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74320" y="14310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of Java apps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overprovision memory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41448" y="777240"/>
            <a:ext cx="2011680" cy="118872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41448" y="868680"/>
            <a:ext cx="201168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</a:rPr>
              <a:t>4–8s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441448" y="14310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typical JVM cold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start on Kubernetes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08576" y="777240"/>
            <a:ext cx="2011680" cy="118872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868680"/>
            <a:ext cx="201168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4855"/>
                </a:solidFill>
              </a:rPr>
              <a:t>2–3×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608576" y="14310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infrastructure waste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from poor bin-packing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75704" y="777240"/>
            <a:ext cx="2011680" cy="118872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75704" y="868680"/>
            <a:ext cx="201168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</a:rPr>
              <a:t>$$$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775704" y="14310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unnecessary cloud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spend each month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2103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F0F1"/>
                </a:solidFill>
              </a:rPr>
              <a:t>Common failure patterns: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20040" y="2560320"/>
            <a:ext cx="8503920" cy="402336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1" name="Shape 19"/>
          <p:cNvSpPr/>
          <p:nvPr/>
        </p:nvSpPr>
        <p:spPr>
          <a:xfrm>
            <a:off x="320040" y="2560320"/>
            <a:ext cx="54864" cy="402336"/>
          </a:xfrm>
          <a:prstGeom prst="rect">
            <a:avLst/>
          </a:prstGeom>
          <a:solidFill>
            <a:srgbClr val="E84855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" y="25786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4855"/>
                </a:solidFill>
              </a:rPr>
              <a:t>JVMs ignore cgroup limits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788920" y="25786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Default JVM reads host RAM — claims 25% of 256 GB node = 64 GB heap per pod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" y="3017520"/>
            <a:ext cx="8503920" cy="402336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3017520"/>
            <a:ext cx="54864" cy="402336"/>
          </a:xfrm>
          <a:prstGeom prst="rect">
            <a:avLst/>
          </a:prstGeom>
          <a:solidFill>
            <a:srgbClr val="E84855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" y="30358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4855"/>
                </a:solidFill>
              </a:rPr>
              <a:t>OOMKill storms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788920" y="30358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Container limit is 2 GB; JVM claimed 4 GB → Kubernetes terminates pod mid-request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474720"/>
            <a:ext cx="8503920" cy="402336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3474720"/>
            <a:ext cx="54864" cy="402336"/>
          </a:xfrm>
          <a:prstGeom prst="rect">
            <a:avLst/>
          </a:prstGeom>
          <a:solidFill>
            <a:srgbClr val="E8485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" y="3493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4855"/>
                </a:solidFill>
              </a:rPr>
              <a:t>GC pause autoscaling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88920" y="34930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ZooKeeper-level GC pauses → CPU spikes → HPA scales out → waste × N replicas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0040" y="3931920"/>
            <a:ext cx="8503920" cy="402336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33" name="Shape 31"/>
          <p:cNvSpPr/>
          <p:nvPr/>
        </p:nvSpPr>
        <p:spPr>
          <a:xfrm>
            <a:off x="320040" y="3931920"/>
            <a:ext cx="54864" cy="402336"/>
          </a:xfrm>
          <a:prstGeom prst="rect">
            <a:avLst/>
          </a:prstGeom>
          <a:solidFill>
            <a:srgbClr val="E84855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" y="39502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4855"/>
                </a:solidFill>
              </a:rPr>
              <a:t>Slow startup throttles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788920" y="39502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4-8s JVM init delays scale-out during traffic bursts — SLAs breached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20040" y="4389120"/>
            <a:ext cx="8503920" cy="402336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040" y="4389120"/>
            <a:ext cx="54864" cy="402336"/>
          </a:xfrm>
          <a:prstGeom prst="rect">
            <a:avLst/>
          </a:prstGeom>
          <a:solidFill>
            <a:srgbClr val="E84855"/>
          </a:solidFill>
          <a:ln/>
        </p:spPr>
      </p:sp>
      <p:sp>
        <p:nvSpPr>
          <p:cNvPr id="38" name="Text 36"/>
          <p:cNvSpPr/>
          <p:nvPr/>
        </p:nvSpPr>
        <p:spPr>
          <a:xfrm>
            <a:off x="475488" y="44074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4855"/>
                </a:solidFill>
              </a:rPr>
              <a:t>No observability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788920" y="44074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JVM internals invisible to Prometheus → tuning is guesswork, not engineering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Container-Native JVM Fundamentals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4/26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777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6FC8"/>
                </a:solidFill>
              </a:rPr>
              <a:t>How JVM Discovers Memory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234440"/>
            <a:ext cx="42976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Untuned JVMs read /proc/meminfo and see the NODE's full RAM — claiming 64 GB heap inside a 512 MB container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Java 21 LTS (our baseline): UseContainerSupport is ON by default — reads cgroup memory limits correctly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MaxRAMPercentage replaces hardcoded -Xmx — heap scales automatically with the container limit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cgroup v2 (RHEL 9 / OCP 4.14+ default): JVM reads /sys/fs/cgroup/memory.max, fully supported Java 15+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Verify with: java -XX:+PrintFlagsFinal -version | grep MaxRAMPercentage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92040" y="777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6FC8"/>
                </a:solidFill>
              </a:rPr>
              <a:t>The Fix: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92040" y="1143000"/>
            <a:ext cx="3931920" cy="2834640"/>
          </a:xfrm>
          <a:prstGeom prst="rect">
            <a:avLst/>
          </a:prstGeom>
          <a:solidFill>
            <a:srgbClr val="0D2137"/>
          </a:solidFill>
          <a:ln w="19050">
            <a:solidFill>
              <a:srgbClr val="00BC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65192" y="1188720"/>
            <a:ext cx="3785616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❌ BEFORE — Hardcoded, breaks with resize / VPA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-Xms512m -Xmx2048m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✅ Java 21 — Container-aware (UseContainerSupport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is ON by default in Java 21; MaxRAMPercentage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is the key flag to tune)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-XX:MaxRAMPercentage=75.0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-XX:InitialRAMPercentage=50.0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-XX:MinRAMPercentage=25.0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-XX:NativeMemoryTracking=summary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OpenShift Deployment (env var pattern)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JAVA_OPTS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value: &gt;-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-XX:MaxRAMPercentage=75.0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-XX:+UseZGC -XX:+ZGenerational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memory: "512Mi"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limits: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memory: "1Gi"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4114800"/>
            <a:ext cx="8412480" cy="68580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4114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E5C3"/>
                </a:solidFill>
              </a:rPr>
              <a:t>📖  Reference: "Optimizing Cloud Native Java" Ch. 3 — Container Memory Management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E5C3"/>
                </a:solidFill>
              </a:rPr>
              <a:t>"The JVM must be told it lives in a container. UseContainerSupport is your first tuning flag."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JVM Memory Regions — What You Must Account For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5/26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0A4AE"/>
                </a:solidFill>
              </a:rPr>
              <a:t>Java 21 LTS: Container Limit ≠ Heap Size — off-heap regions must be budgeted explicitly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188720"/>
            <a:ext cx="8503920" cy="59436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188720"/>
            <a:ext cx="2560320" cy="594360"/>
          </a:xfrm>
          <a:prstGeom prst="rect">
            <a:avLst/>
          </a:prstGeom>
          <a:solidFill>
            <a:srgbClr val="1E6FC8">
              <a:alpha val="8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12435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Heap (Old Gen + Young Gen)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15270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~50-75%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71800" y="1188720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F0F1"/>
                </a:solidFill>
              </a:rPr>
              <a:t>Objects, controlled by MaxRAMPercentage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892808"/>
            <a:ext cx="8503920" cy="59436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892808"/>
            <a:ext cx="2560320" cy="594360"/>
          </a:xfrm>
          <a:prstGeom prst="rect">
            <a:avLst/>
          </a:prstGeom>
          <a:solidFill>
            <a:srgbClr val="00BCD4">
              <a:alpha val="8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19476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Metaspace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223113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~50-200MB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71800" y="1892808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F0F1"/>
                </a:solidFill>
              </a:rPr>
              <a:t>Class metadata, -XX:MaxMetaspaceSize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596896"/>
            <a:ext cx="8503920" cy="59436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596896"/>
            <a:ext cx="2560320" cy="594360"/>
          </a:xfrm>
          <a:prstGeom prst="rect">
            <a:avLst/>
          </a:prstGeom>
          <a:solidFill>
            <a:srgbClr val="F5A623">
              <a:alpha val="8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2651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Platform Thread Stacks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293522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~1MB/thread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2596896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F0F1"/>
                </a:solidFill>
              </a:rPr>
              <a:t>1MB default per platform thread, -Xss to reduce. Java 21: Virtual Threads use heap instead — massive stack savings for high concurrency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300984"/>
            <a:ext cx="8503920" cy="59436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300984"/>
            <a:ext cx="2560320" cy="594360"/>
          </a:xfrm>
          <a:prstGeom prst="rect">
            <a:avLst/>
          </a:prstGeom>
          <a:solidFill>
            <a:srgbClr val="27AE60">
              <a:alpha val="8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3355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Native Memory (JIT, GC)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11480" y="363931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~100-300MB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971800" y="3300984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F0F1"/>
                </a:solidFill>
              </a:rPr>
              <a:t>Code cache, GC structures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005072"/>
            <a:ext cx="8503920" cy="59436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4005072"/>
            <a:ext cx="2560320" cy="594360"/>
          </a:xfrm>
          <a:prstGeom prst="rect">
            <a:avLst/>
          </a:prstGeom>
          <a:solidFill>
            <a:srgbClr val="7C3AED">
              <a:alpha val="85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40599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Direct ByteBuffers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" y="43434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Varies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971800" y="4005072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F0F1"/>
                </a:solidFill>
              </a:rPr>
              <a:t>NIO, Netty — add to memory budget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20040" y="466344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A623"/>
                </a:solidFill>
              </a:rPr>
              <a:t>Java 21 tip: MaxRAMPercentage=75 leaves 25% for off-heap. Virtual Threads (Loom) eliminate platform thread stack cost for I/O-bound workloads. NMT: -XX:NativeMemoryTracking=summary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Right-Sizing Java Workloads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6/26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3C"/>
                </a:solidFill>
              </a:rPr>
              <a:t>Kubernetes Resource Requests vs. Limits — Getting Both Right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188720"/>
            <a:ext cx="4114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188720"/>
            <a:ext cx="54864" cy="192024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2618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FC8"/>
                </a:solidFill>
              </a:rPr>
              <a:t>requests — Scheduling Guarantee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" y="1572768"/>
            <a:ext cx="3858768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Kubernetes scheduler uses this to find a node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Set to actual baseline usage (P50 of your load test)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Too high → pods can't schedule (cluster waste)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Too low → pod scheduled on full node → CPU throttle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188720"/>
            <a:ext cx="4114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188720"/>
            <a:ext cx="54864" cy="1920240"/>
          </a:xfrm>
          <a:prstGeom prst="rect">
            <a:avLst/>
          </a:prstGeom>
          <a:solidFill>
            <a:srgbClr val="E84855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2618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4855"/>
                </a:solidFill>
              </a:rPr>
              <a:t>limits — Hard Ceiling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73752" y="1572768"/>
            <a:ext cx="3858768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Container is killed if memory exceeds limit (OOMKill)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CPU is throttled (not killed) above CPU limit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Set memory limit 25-30% above normal peak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Set CPU limit 2-4× request to absorb GC spikes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3246120"/>
            <a:ext cx="4114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246120"/>
            <a:ext cx="54864" cy="16459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3192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</a:rPr>
              <a:t>Memory Sizing Formula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" y="3630168"/>
            <a:ext cx="3858768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Measure: jcmd &lt;pid&gt; VM.native_memory summary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Budget: Heap + Metaspace + Threads + Native + 20% buffer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Request = P50 steady-state RSS (use kubectl top pod)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Limit = P99 peak + 15% safety margin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3246120"/>
            <a:ext cx="4114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3246120"/>
            <a:ext cx="54864" cy="16459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33192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</a:rPr>
              <a:t>CPU Sizing for JVM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73752" y="3630168"/>
            <a:ext cx="3858768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Request: enough for sustained throughput (e.g., 500m-1000m)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Limit: 2-4× request — GC uses burst CPU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Low CPU limit → GC can't complete → pauses extend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Use -XX:ActiveProcessorCount=N if CPU &lt; 1 core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Pod Bin-Packing: The Cost of Memory Hoarding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7/26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498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4855"/>
                </a:solidFill>
              </a:rPr>
              <a:t>BEFORE Optimization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143000"/>
            <a:ext cx="3749040" cy="3291840"/>
          </a:xfrm>
          <a:prstGeom prst="rect">
            <a:avLst/>
          </a:prstGeom>
          <a:solidFill>
            <a:srgbClr val="122040"/>
          </a:solidFill>
          <a:ln w="25400">
            <a:solidFill>
              <a:srgbClr val="E848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F0F1"/>
                </a:solidFill>
              </a:rPr>
              <a:t>Node: 32 GB RAM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1554480"/>
            <a:ext cx="3383280" cy="749808"/>
          </a:xfrm>
          <a:prstGeom prst="rect">
            <a:avLst/>
          </a:prstGeom>
          <a:solidFill>
            <a:srgbClr val="E84855">
              <a:alpha val="70000"/>
            </a:srgbClr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572768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Pod: Spring App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-Xmx8192m (default)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 GB heap claimed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414016"/>
            <a:ext cx="3383280" cy="749808"/>
          </a:xfrm>
          <a:prstGeom prst="rect">
            <a:avLst/>
          </a:prstGeom>
          <a:solidFill>
            <a:srgbClr val="E84855">
              <a:alpha val="70000"/>
            </a:srgbClr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432304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Pod: Spring App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-Xmx8192m (default)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 GB heap claimed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3273552"/>
            <a:ext cx="3383280" cy="749808"/>
          </a:xfrm>
          <a:prstGeom prst="rect">
            <a:avLst/>
          </a:prstGeom>
          <a:solidFill>
            <a:srgbClr val="E84855">
              <a:alpha val="70000"/>
            </a:srgbClr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9184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Pod: Spring App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-Xmx8192m (default)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 GB heap claimed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4855"/>
                </a:solidFill>
              </a:rPr>
              <a:t>⚠ 24/32 GB used → only 3 pods/node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0" y="749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7AE60"/>
                </a:solidFill>
              </a:rPr>
              <a:t>AFTER Optimization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74920" y="1143000"/>
            <a:ext cx="3749040" cy="3291840"/>
          </a:xfrm>
          <a:prstGeom prst="rect">
            <a:avLst/>
          </a:prstGeom>
          <a:solidFill>
            <a:srgbClr val="122040"/>
          </a:solidFill>
          <a:ln w="2540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120640" y="1188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F0F1"/>
                </a:solidFill>
              </a:rPr>
              <a:t>Node: 32 GB RAM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166360" y="1554480"/>
            <a:ext cx="1709928" cy="749808"/>
          </a:xfrm>
          <a:prstGeom prst="rect">
            <a:avLst/>
          </a:prstGeom>
          <a:solidFill>
            <a:srgbClr val="27AE60">
              <a:alpha val="65000"/>
            </a:srgbClr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66360" y="1572768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App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1.5 GB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967728" y="1554480"/>
            <a:ext cx="1709928" cy="749808"/>
          </a:xfrm>
          <a:prstGeom prst="rect">
            <a:avLst/>
          </a:prstGeom>
          <a:solidFill>
            <a:srgbClr val="27AE60">
              <a:alpha val="65000"/>
            </a:srgbClr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67728" y="1572768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App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1.5 GB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166360" y="2414016"/>
            <a:ext cx="1709928" cy="749808"/>
          </a:xfrm>
          <a:prstGeom prst="rect">
            <a:avLst/>
          </a:prstGeom>
          <a:solidFill>
            <a:srgbClr val="27AE60">
              <a:alpha val="65000"/>
            </a:srgbClr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66360" y="2432304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App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1.5 GB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967728" y="2414016"/>
            <a:ext cx="1709928" cy="749808"/>
          </a:xfrm>
          <a:prstGeom prst="rect">
            <a:avLst/>
          </a:prstGeom>
          <a:solidFill>
            <a:srgbClr val="27AE60">
              <a:alpha val="65000"/>
            </a:srgbClr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67728" y="2432304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App 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1.5 GB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166360" y="3273552"/>
            <a:ext cx="1709928" cy="749808"/>
          </a:xfrm>
          <a:prstGeom prst="rect">
            <a:avLst/>
          </a:prstGeom>
          <a:solidFill>
            <a:srgbClr val="27AE60">
              <a:alpha val="65000"/>
            </a:srgbClr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66360" y="3291840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App 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1.5 GB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67728" y="3273552"/>
            <a:ext cx="1709928" cy="749808"/>
          </a:xfrm>
          <a:prstGeom prst="rect">
            <a:avLst/>
          </a:prstGeom>
          <a:solidFill>
            <a:srgbClr val="27AE60">
              <a:alpha val="65000"/>
            </a:srgbClr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67728" y="3291840"/>
            <a:ext cx="1709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App 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1.5 GB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4206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7AE60"/>
                </a:solidFill>
              </a:rPr>
              <a:t>✅ 9 GB used → 6 pods/node → 2× density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133088" y="2651760"/>
            <a:ext cx="877824" cy="4572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4" name="Text 32"/>
          <p:cNvSpPr/>
          <p:nvPr/>
        </p:nvSpPr>
        <p:spPr>
          <a:xfrm>
            <a:off x="4133088" y="2651760"/>
            <a:ext cx="877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→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Garbage Collection Optimization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8/26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3C"/>
                </a:solidFill>
              </a:rPr>
              <a:t>GC in Containers: The Challenges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0040" y="1234440"/>
            <a:ext cx="406908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234440"/>
            <a:ext cx="4069080" cy="384048"/>
          </a:xfrm>
          <a:prstGeom prst="rect">
            <a:avLst/>
          </a:prstGeom>
          <a:solidFill>
            <a:srgbClr val="E84855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" y="1271016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CPU Throttling Extends GC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" y="169164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GC is CPU-intensive. CPU limits throttle GC threads mid-pause. A 100ms G1GC pause becomes 400ms under throttle. Set CPU limit ≥ 2× request.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406908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234440"/>
            <a:ext cx="4069080" cy="38404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4" name="Text 12"/>
          <p:cNvSpPr/>
          <p:nvPr/>
        </p:nvSpPr>
        <p:spPr>
          <a:xfrm>
            <a:off x="4773168" y="1271016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Parallel GC Thread Count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73168" y="169164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JVM defaults ParallelGCThreads to host CPU count. On a 64-core node with 4 CPU limit, GC spawns 64 threads competing for 4 CPUs. Fix: -XX:ParallelGCThreads=4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926080"/>
            <a:ext cx="406908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926080"/>
            <a:ext cx="4069080" cy="384048"/>
          </a:xfrm>
          <a:prstGeom prst="rect">
            <a:avLst/>
          </a:prstGeom>
          <a:solidFill>
            <a:srgbClr val="E84855"/>
          </a:solidFill>
          <a:ln/>
        </p:spPr>
      </p:sp>
      <p:sp>
        <p:nvSpPr>
          <p:cNvPr id="18" name="Text 16"/>
          <p:cNvSpPr/>
          <p:nvPr/>
        </p:nvSpPr>
        <p:spPr>
          <a:xfrm>
            <a:off x="429768" y="2962656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GC-Induced HPA Thrash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9768" y="338328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GC pause → CPU spike → HPA fires → new pods start → GC on new pods → repeat. Solution: longer HPA stabilizationWindow + JVM-specific metrics.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926080"/>
            <a:ext cx="406908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2926080"/>
            <a:ext cx="4069080" cy="38404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2" name="Text 20"/>
          <p:cNvSpPr/>
          <p:nvPr/>
        </p:nvSpPr>
        <p:spPr>
          <a:xfrm>
            <a:off x="4773168" y="2962656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Heap Sizing vs. GC Pressure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73168" y="338328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Small heap = frequent GC. Too large = infrequent but long GC. For containers: start at 75% MaxRAMPercentage, tune based on GC pause data from JFR.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Garbage Collector Selection Guide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9/26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0A4AE"/>
                </a:solidFill>
              </a:rPr>
              <a:t>Choosing the right GC for container workloads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097280"/>
            <a:ext cx="1280160" cy="384048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10972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Collector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554480" y="1097280"/>
            <a:ext cx="1371600" cy="384048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11" name="Text 9"/>
          <p:cNvSpPr/>
          <p:nvPr/>
        </p:nvSpPr>
        <p:spPr>
          <a:xfrm>
            <a:off x="1600200" y="10972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Pause Model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26080" y="1097280"/>
            <a:ext cx="1280160" cy="384048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13" name="Text 11"/>
          <p:cNvSpPr/>
          <p:nvPr/>
        </p:nvSpPr>
        <p:spPr>
          <a:xfrm>
            <a:off x="2971800" y="10972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CPU Overhead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06240" y="1097280"/>
            <a:ext cx="2560320" cy="384048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10972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Best For (Containers)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66560" y="1097280"/>
            <a:ext cx="2377440" cy="384048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17" name="Text 15"/>
          <p:cNvSpPr/>
          <p:nvPr/>
        </p:nvSpPr>
        <p:spPr>
          <a:xfrm>
            <a:off x="6812280" y="10972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Key Flags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1481328"/>
            <a:ext cx="1280160" cy="7315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499616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G1GC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554480" y="1481328"/>
            <a:ext cx="1371600" cy="7315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1" name="Text 19"/>
          <p:cNvSpPr/>
          <p:nvPr/>
        </p:nvSpPr>
        <p:spPr>
          <a:xfrm>
            <a:off x="1600200" y="1499616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(50-200ms)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926080" y="1481328"/>
            <a:ext cx="1280160" cy="7315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3" name="Text 21"/>
          <p:cNvSpPr/>
          <p:nvPr/>
        </p:nvSpPr>
        <p:spPr>
          <a:xfrm>
            <a:off x="2971800" y="1499616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06240" y="1481328"/>
            <a:ext cx="2560320" cy="7315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5" name="Text 23"/>
          <p:cNvSpPr/>
          <p:nvPr/>
        </p:nvSpPr>
        <p:spPr>
          <a:xfrm>
            <a:off x="4251960" y="149961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General-purpose, mixed heap; microservices with modest latency SLOs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66560" y="1481328"/>
            <a:ext cx="2377440" cy="7315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7" name="Text 25"/>
          <p:cNvSpPr/>
          <p:nvPr/>
        </p:nvSpPr>
        <p:spPr>
          <a:xfrm>
            <a:off x="6812280" y="1499616"/>
            <a:ext cx="2286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-XX:+UseG1GC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-XX:MaxGCPauseMillis=200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-XX:G1HeapRegionSize=16m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2240280"/>
            <a:ext cx="1280160" cy="731520"/>
          </a:xfrm>
          <a:prstGeom prst="rect">
            <a:avLst/>
          </a:prstGeom>
          <a:solidFill>
            <a:srgbClr val="0D2842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2258568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ZGC (Gen)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554480" y="2240280"/>
            <a:ext cx="1371600" cy="731520"/>
          </a:xfrm>
          <a:prstGeom prst="rect">
            <a:avLst/>
          </a:prstGeom>
          <a:solidFill>
            <a:srgbClr val="0D2842"/>
          </a:solidFill>
          <a:ln/>
        </p:spPr>
      </p:sp>
      <p:sp>
        <p:nvSpPr>
          <p:cNvPr id="31" name="Text 29"/>
          <p:cNvSpPr/>
          <p:nvPr/>
        </p:nvSpPr>
        <p:spPr>
          <a:xfrm>
            <a:off x="1600200" y="2258568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Sub-millisecond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926080" y="2240280"/>
            <a:ext cx="1280160" cy="731520"/>
          </a:xfrm>
          <a:prstGeom prst="rect">
            <a:avLst/>
          </a:prstGeom>
          <a:solidFill>
            <a:srgbClr val="0D2842"/>
          </a:solidFill>
          <a:ln/>
        </p:spPr>
      </p:sp>
      <p:sp>
        <p:nvSpPr>
          <p:cNvPr id="33" name="Text 31"/>
          <p:cNvSpPr/>
          <p:nvPr/>
        </p:nvSpPr>
        <p:spPr>
          <a:xfrm>
            <a:off x="2971800" y="2258568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206240" y="2240280"/>
            <a:ext cx="2560320" cy="731520"/>
          </a:xfrm>
          <a:prstGeom prst="rect">
            <a:avLst/>
          </a:prstGeom>
          <a:solidFill>
            <a:srgbClr val="0D2842"/>
          </a:solidFill>
          <a:ln/>
        </p:spPr>
      </p:sp>
      <p:sp>
        <p:nvSpPr>
          <p:cNvPr id="35" name="Text 33"/>
          <p:cNvSpPr/>
          <p:nvPr/>
        </p:nvSpPr>
        <p:spPr>
          <a:xfrm>
            <a:off x="4251960" y="2258568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Low-latency APIs; Java 21 Generational ZGC is production-ready and preferred — any heap size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66560" y="2240280"/>
            <a:ext cx="2377440" cy="731520"/>
          </a:xfrm>
          <a:prstGeom prst="rect">
            <a:avLst/>
          </a:prstGeom>
          <a:solidFill>
            <a:srgbClr val="0D2842"/>
          </a:solidFill>
          <a:ln/>
        </p:spPr>
      </p:sp>
      <p:sp>
        <p:nvSpPr>
          <p:cNvPr id="37" name="Text 35"/>
          <p:cNvSpPr/>
          <p:nvPr/>
        </p:nvSpPr>
        <p:spPr>
          <a:xfrm>
            <a:off x="6812280" y="2258568"/>
            <a:ext cx="2286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-XX:+UseZGC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-XX:+ZGenerational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-XX:SoftMaxHeapSize=Xg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74320" y="2999232"/>
            <a:ext cx="1280160" cy="7315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39" name="Text 37"/>
          <p:cNvSpPr/>
          <p:nvPr/>
        </p:nvSpPr>
        <p:spPr>
          <a:xfrm>
            <a:off x="320040" y="3017520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Shenandoah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1554480" y="2999232"/>
            <a:ext cx="1371600" cy="7315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41" name="Text 39"/>
          <p:cNvSpPr/>
          <p:nvPr/>
        </p:nvSpPr>
        <p:spPr>
          <a:xfrm>
            <a:off x="1600200" y="3017520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Sub-millisecond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926080" y="2999232"/>
            <a:ext cx="1280160" cy="7315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43" name="Text 41"/>
          <p:cNvSpPr/>
          <p:nvPr/>
        </p:nvSpPr>
        <p:spPr>
          <a:xfrm>
            <a:off x="2971800" y="3017520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206240" y="2999232"/>
            <a:ext cx="2560320" cy="7315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45" name="Text 43"/>
          <p:cNvSpPr/>
          <p:nvPr/>
        </p:nvSpPr>
        <p:spPr>
          <a:xfrm>
            <a:off x="4251960" y="3017520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ZGC, OpenJDK/RHEL default; excellent for all heap sizes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766560" y="2999232"/>
            <a:ext cx="2377440" cy="7315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47" name="Text 45"/>
          <p:cNvSpPr/>
          <p:nvPr/>
        </p:nvSpPr>
        <p:spPr>
          <a:xfrm>
            <a:off x="6812280" y="3017520"/>
            <a:ext cx="2286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-XX:+UseShenandoahGC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-XX:ShenandoahGCMode=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adaptive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74320" y="3758184"/>
            <a:ext cx="1280160" cy="731520"/>
          </a:xfrm>
          <a:prstGeom prst="rect">
            <a:avLst/>
          </a:prstGeom>
          <a:solidFill>
            <a:srgbClr val="0D2842"/>
          </a:solidFill>
          <a:ln/>
        </p:spPr>
      </p:sp>
      <p:sp>
        <p:nvSpPr>
          <p:cNvPr id="49" name="Text 47"/>
          <p:cNvSpPr/>
          <p:nvPr/>
        </p:nvSpPr>
        <p:spPr>
          <a:xfrm>
            <a:off x="320040" y="3776472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GC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554480" y="3758184"/>
            <a:ext cx="1371600" cy="731520"/>
          </a:xfrm>
          <a:prstGeom prst="rect">
            <a:avLst/>
          </a:prstGeom>
          <a:solidFill>
            <a:srgbClr val="0D2842"/>
          </a:solidFill>
          <a:ln/>
        </p:spPr>
      </p:sp>
      <p:sp>
        <p:nvSpPr>
          <p:cNvPr id="51" name="Text 49"/>
          <p:cNvSpPr/>
          <p:nvPr/>
        </p:nvSpPr>
        <p:spPr>
          <a:xfrm>
            <a:off x="1600200" y="3776472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Stop-the-world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2926080" y="3758184"/>
            <a:ext cx="1280160" cy="731520"/>
          </a:xfrm>
          <a:prstGeom prst="rect">
            <a:avLst/>
          </a:prstGeom>
          <a:solidFill>
            <a:srgbClr val="0D2842"/>
          </a:solidFill>
          <a:ln/>
        </p:spPr>
      </p:sp>
      <p:sp>
        <p:nvSpPr>
          <p:cNvPr id="53" name="Text 51"/>
          <p:cNvSpPr/>
          <p:nvPr/>
        </p:nvSpPr>
        <p:spPr>
          <a:xfrm>
            <a:off x="2971800" y="3776472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206240" y="3758184"/>
            <a:ext cx="2560320" cy="731520"/>
          </a:xfrm>
          <a:prstGeom prst="rect">
            <a:avLst/>
          </a:prstGeom>
          <a:solidFill>
            <a:srgbClr val="0D2842"/>
          </a:solidFill>
          <a:ln/>
        </p:spPr>
      </p:sp>
      <p:sp>
        <p:nvSpPr>
          <p:cNvPr id="55" name="Text 53"/>
          <p:cNvSpPr/>
          <p:nvPr/>
        </p:nvSpPr>
        <p:spPr>
          <a:xfrm>
            <a:off x="4251960" y="3776472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tools, batch jobs, very small heaps (&lt;256MB); avoid for microservices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766560" y="3758184"/>
            <a:ext cx="2377440" cy="731520"/>
          </a:xfrm>
          <a:prstGeom prst="rect">
            <a:avLst/>
          </a:prstGeom>
          <a:solidFill>
            <a:srgbClr val="0D2842"/>
          </a:solidFill>
          <a:ln/>
        </p:spPr>
      </p:sp>
      <p:sp>
        <p:nvSpPr>
          <p:cNvPr id="57" name="Text 55"/>
          <p:cNvSpPr/>
          <p:nvPr/>
        </p:nvSpPr>
        <p:spPr>
          <a:xfrm>
            <a:off x="6812280" y="3776472"/>
            <a:ext cx="2286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-XX:+UseSerialGC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(only for batch / small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containers)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320040" y="46451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A623"/>
                </a:solidFill>
              </a:rPr>
              <a:t>💡  Tip (SRE with Java Microservices): Monitor jvm.gc.pause via Micrometer — if P99 pause &gt; 500ms, switch from G1GC to ZGC/Shenandoah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Essential GC Tuning Parameters for Kubernetes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10/26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749808"/>
            <a:ext cx="8503920" cy="3337560"/>
          </a:xfrm>
          <a:prstGeom prst="rect">
            <a:avLst/>
          </a:prstGeom>
          <a:solidFill>
            <a:srgbClr val="0D2137"/>
          </a:solidFill>
          <a:ln w="19050">
            <a:solidFill>
              <a:srgbClr val="00BC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795528"/>
            <a:ext cx="8357616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=== G1GC Container-Optimized Settings ===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-XX:+UseG1GC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-XX:+UseContainerSupport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-XX:MaxRAMPercentage=75.0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-XX:MaxGCPauseMillis=200          # Target pause goal (not a hard limit)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-XX:G1HeapRegionSize=16m          # Larger regions reduce fragmentation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-XX:ParallelGCThreads=4           # Match container CPU limit!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-XX:ConcGCThreads=2               # Background GC threads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-XX:InitiatingHeapOccupancyPercent=45  # Start concurrent GC earlier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-XX:+G1UseAdaptiveIHOP           # Let G1 self-tune IHOP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-XX:+ExplicitGCInvokesConcurrent  # Make System.gc() concurrent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=== ZGC Container Settings (Java 21 Generational ZGC) ===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-XX:+UseZGC -XX:+ZGenerational   # Java 21 default recommended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-XX:SoftMaxHeapSize=768m          # Soft limit (within 1GB limit)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-XX:ZCollectionInterval=5         # Proactive GC every 5s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-XX:ZUncommitDelay=300            # Return memory to OS after 5min idle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=== Shenandoah (RHEL / OpenJDK default extra points) ===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-XX:+UseShenandoahGC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-XX:ShenandoahGCMode=adaptive     # Self-tuning heuristic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" y="4206240"/>
            <a:ext cx="269748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" y="425196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FC8"/>
                </a:solidFill>
              </a:rPr>
              <a:t>ParallelGCThreads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45262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Must match your CPU limit — defaults to host CPU count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72968" y="4206240"/>
            <a:ext cx="269748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264408" y="425196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FC8"/>
                </a:solidFill>
              </a:rPr>
              <a:t>Heap Regions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64408" y="45262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G1HeapRegionSize: larger = fewer regions = less GC bookkeeping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25896" y="4206240"/>
            <a:ext cx="269748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7336" y="425196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FC8"/>
                </a:solidFill>
              </a:rPr>
              <a:t>IHOP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17336" y="45262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Start GC earlier (IHOP=40-45) in containers to avoid emergency GC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Startup Time Reduction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11/26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0A4AE"/>
                </a:solidFill>
              </a:rPr>
              <a:t>A slow-starting JVM bottlenecks scale-out — every second matters under load spikes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0972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F0F1"/>
                </a:solidFill>
              </a:rPr>
              <a:t>Typical JVM Startup Breakdown (Spring Boot App, 4-8s total):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508760"/>
            <a:ext cx="1193292" cy="50292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10" name="Shape 8"/>
          <p:cNvSpPr/>
          <p:nvPr/>
        </p:nvSpPr>
        <p:spPr>
          <a:xfrm>
            <a:off x="1559052" y="1508760"/>
            <a:ext cx="2784348" cy="50292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508760"/>
            <a:ext cx="2386584" cy="5029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2" name="Shape 10"/>
          <p:cNvSpPr/>
          <p:nvPr/>
        </p:nvSpPr>
        <p:spPr>
          <a:xfrm>
            <a:off x="6729984" y="1508760"/>
            <a:ext cx="1591056" cy="502920"/>
          </a:xfrm>
          <a:prstGeom prst="rect">
            <a:avLst/>
          </a:prstGeom>
          <a:solidFill>
            <a:srgbClr val="E84855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148840"/>
            <a:ext cx="8503920" cy="5029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2148840"/>
            <a:ext cx="164592" cy="50292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21488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CF0F1"/>
                </a:solidFill>
              </a:rPr>
              <a:t>JVM Bootstrap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635240" y="21488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~200ms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2743200"/>
            <a:ext cx="8503920" cy="5029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2743200"/>
            <a:ext cx="164592" cy="50292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7432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CF0F1"/>
                </a:solidFill>
              </a:rPr>
              <a:t>Class Loading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35240" y="27432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6FC8"/>
                </a:solidFill>
              </a:rPr>
              <a:t>~800ms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3337560"/>
            <a:ext cx="8503920" cy="5029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3337560"/>
            <a:ext cx="164592" cy="5029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3375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CF0F1"/>
                </a:solidFill>
              </a:rPr>
              <a:t>Spring Context Init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35240" y="33375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623"/>
                </a:solidFill>
              </a:rPr>
              <a:t>~1500ms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0040" y="3931920"/>
            <a:ext cx="8503920" cy="5029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6" name="Shape 24"/>
          <p:cNvSpPr/>
          <p:nvPr/>
        </p:nvSpPr>
        <p:spPr>
          <a:xfrm>
            <a:off x="320040" y="3931920"/>
            <a:ext cx="164592" cy="502920"/>
          </a:xfrm>
          <a:prstGeom prst="rect">
            <a:avLst/>
          </a:prstGeom>
          <a:solidFill>
            <a:srgbClr val="E84855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9319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CF0F1"/>
                </a:solidFill>
              </a:rPr>
              <a:t>JIT Compilation (C1/C2)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35240" y="39319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4855"/>
                </a:solidFill>
              </a:rPr>
              <a:t>~600ms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Class Data Sharing (CDS) &amp; AppCDS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12/26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46E7A"/>
                </a:solidFill>
              </a:rPr>
              <a:t>Reduce class loading time by pre-processing &amp; memory-mapping class metadata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097280"/>
            <a:ext cx="54864" cy="146304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17043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FC8"/>
                </a:solidFill>
              </a:rPr>
              <a:t>CDS (Java 21 — enabled by default)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" y="1481328"/>
            <a:ext cx="381304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JDK ships with a pre-built shared archive for JDK classes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Java 21: active by default — no flags needed for JDK class sharing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Saves ~150-300ms on startup with zero configuration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Shared across all JVM processes on the same container node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" y="2697480"/>
            <a:ext cx="40690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697480"/>
            <a:ext cx="54864" cy="173736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77063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AppCDS — Application Class Sharing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" y="3081528"/>
            <a:ext cx="3813048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Extends base CDS to include your app classes + all dependencies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Java 21 + Spring Boot 4.0: training run auto-triggered by Maven plugin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Saves 300-800ms additional; ~40-55% total startup reduction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Archive baked into Docker image — zero runtime overhead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617720" y="10972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FC8"/>
                </a:solidFill>
              </a:rPr>
              <a:t>AppCDS Setup in Docker: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17720" y="1444752"/>
            <a:ext cx="4206240" cy="2788920"/>
          </a:xfrm>
          <a:prstGeom prst="rect">
            <a:avLst/>
          </a:prstGeom>
          <a:solidFill>
            <a:srgbClr val="0D2137"/>
          </a:solidFill>
          <a:ln w="19050">
            <a:solidFill>
              <a:srgbClr val="00BC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90872" y="1490472"/>
            <a:ext cx="4059936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Spring Boot 4.0.5 / Java 21 — built-in CDS support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pom.xml: spring-boot-maven-plugin handles training run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./mvnw spring-boot:build-image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-Dspring-boot.build-image.imageName=myapp:cds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Manual 3-step (any Java 21 app)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Step 1: Training run (Spring context exit after init)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-Xshare:off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-XX:DumpLoadedClassList=app.lst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-Dspring.context.exit=onRefresh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-jar app.jar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Step 2: Dump the archive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-Xshare:dump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-XX:SharedClassListFile=app.lst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-XX:SharedArchiveFile=app.jsa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-jar app.jar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Step 3: Production — archive baked into image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-Xshare:on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-XX:SharedArchiveFile=/app/app.jsa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-XX:MaxRAMPercentage=75.0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-jar app.jar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4553712"/>
            <a:ext cx="8503920" cy="3657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55371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E5C3"/>
                </a:solidFill>
              </a:rPr>
              <a:t>📊  Benchmark: Spring PetClinic — 4.2s cold start → 2.8s with AppCDS → 1.9s with AppCDS + tiered compile flags (55% improvement)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Java 21 LTS: Virtual Threads &amp; Container Optimization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13/26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46E7A"/>
                </a:solidFill>
              </a:rPr>
              <a:t>Project Loom Virtual Threads — the biggest JVM concurrency change in 20 years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4069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097280"/>
            <a:ext cx="54864" cy="182880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17043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FC8"/>
                </a:solidFill>
              </a:rPr>
              <a:t>What Are Virtual Threads? (JEP 444 — Java 21)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" y="1481328"/>
            <a:ext cx="3813048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Lightweight threads scheduled on a small pool of OS (platform) threads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1M virtual threads use ~1 GB heap vs 1M platform threads = ~1 TB stack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Identical API: Thread.ofVirtual().start(() -&gt; ...) or ExecutorService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Spring Boot 4.0: spring.threads.virtual.enabled=true (one line!)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097280"/>
            <a:ext cx="4069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097280"/>
            <a:ext cx="54864" cy="18288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17043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Impact on Container Sizing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73752" y="1481328"/>
            <a:ext cx="3813048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Thread stack memory (-Xss) budget shrinks dramatically for I/O-bound apps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A REST service that needed 512m for 200 threads now handles 10k with same memory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Enables smaller container limits → better bin-packing → lower cost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JVM metrics: watch jvm.threads.live — virtual threads appear here too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5760" y="3063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FC8"/>
                </a:solidFill>
              </a:rPr>
              <a:t>Enabling Virtual Threads in Spring Boot 4.0 (Java 21):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401568"/>
            <a:ext cx="8503920" cy="1417320"/>
          </a:xfrm>
          <a:prstGeom prst="rect">
            <a:avLst/>
          </a:prstGeom>
          <a:solidFill>
            <a:srgbClr val="0D2137"/>
          </a:solidFill>
          <a:ln w="19050">
            <a:solidFill>
              <a:srgbClr val="00BC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3192" y="3447288"/>
            <a:ext cx="8357616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application.properties (Spring Boot 4.0.5 / Java 21)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spring.threads.virtual.enabled=true  # Spring Boot 4.0 — enables virtual thread executor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Docker/OCP — same image, smaller container: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memory: "256Mi"  # Was 512Mi with platform threads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cpu: "250m"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limits: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memory: "512Mi"  # 200 platform thread stacks → now heap-allocated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cpu: "1000m"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Verify virtual threads active: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jcmd &lt;pid&gt; Thread.print | grep "Virtual"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Metric: jvm_threads_live{type="virtual"} via Micrometer 1.12+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4892040"/>
            <a:ext cx="8503920" cy="2011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92040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A623"/>
                </a:solidFill>
              </a:rPr>
              <a:t>⚠  Virtual threads are not a replacement for async/reactive — they excel at blocking I/O. Avoid pinning (synchronized blocks, native calls) which blocks the carrier thread.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Observability &amp; Instrumentation Stack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14/26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46E7A"/>
                </a:solidFill>
              </a:rPr>
              <a:t>You can't tune what you can't see — build observability before you tune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188720"/>
            <a:ext cx="4069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188720"/>
            <a:ext cx="4069080" cy="36576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121615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JDK Flight Recorder (JFR)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66160" y="1243584"/>
            <a:ext cx="749808" cy="256032"/>
          </a:xfrm>
          <a:prstGeom prst="rect">
            <a:avLst/>
          </a:prstGeom>
          <a:solidFill>
            <a:srgbClr val="1E1E1E">
              <a:alpha val="50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Built-in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" y="1609344"/>
            <a:ext cx="384048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Zero-overhead production profiling (&lt; 1% overhead)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Captures GC events, thread activity, allocations, IO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Start via Cryostat UI or: jcmd &lt;pid&gt; JFR.start duration=60s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069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188720"/>
            <a:ext cx="4069080" cy="365760"/>
          </a:xfrm>
          <a:prstGeom prst="rect">
            <a:avLst/>
          </a:prstGeom>
          <a:solidFill>
            <a:srgbClr val="E83E8C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21615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Cryostat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09560" y="1243584"/>
            <a:ext cx="749808" cy="256032"/>
          </a:xfrm>
          <a:prstGeom prst="rect">
            <a:avLst/>
          </a:prstGeom>
          <a:solidFill>
            <a:srgbClr val="1E1E1E">
              <a:alpha val="50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OpenShift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1609344"/>
            <a:ext cx="384048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OpenShift-native JFR management via Kubernetes operator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Discover pods automatically via annotation, manage recordings via UI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Stores JFR files in PVC; integrates with Grafana for dashboards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2926080"/>
            <a:ext cx="4069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926080"/>
            <a:ext cx="4069080" cy="36576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29535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OpenTelemetry + Jaeger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566160" y="2980944"/>
            <a:ext cx="749808" cy="256032"/>
          </a:xfrm>
          <a:prstGeom prst="rect">
            <a:avLst/>
          </a:prstGeom>
          <a:solidFill>
            <a:srgbClr val="1E1E1E">
              <a:alpha val="50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Boot 4.0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29768" y="3346704"/>
            <a:ext cx="384048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Spring Boot 4.0: spring-boot-starter-opentelemetry auto-configures OTel SDK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OTLP trace export to Jaeger/Tempo/Grafana Alloy — zero code changes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Observation API bridges Micrometer metrics + traces in one API call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2926080"/>
            <a:ext cx="4069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2926080"/>
            <a:ext cx="4069080" cy="36576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0" y="29535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Micrometer + Prometheus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909560" y="2980944"/>
            <a:ext cx="749808" cy="256032"/>
          </a:xfrm>
          <a:prstGeom prst="rect">
            <a:avLst/>
          </a:prstGeom>
          <a:solidFill>
            <a:srgbClr val="1E1E1E">
              <a:alpha val="50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Metrics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73168" y="3346704"/>
            <a:ext cx="384048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jvm.gc.pause, jvm.memory.used, jvm.threads.live metrics auto-published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Spring Boot 4.0: management.prometheus.metrics.export.enabled=true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PrometheusRule alerts on P99 pause &gt; 500ms, heap util &gt; 85%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Cryostat: Production JFR on OpenShift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15/26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2651760" cy="1097280"/>
          </a:xfrm>
          <a:prstGeom prst="rect">
            <a:avLst/>
          </a:prstGeom>
          <a:solidFill>
            <a:srgbClr val="122040"/>
          </a:solidFill>
          <a:ln w="25400">
            <a:solidFill>
              <a:srgbClr val="1E6FC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371600"/>
            <a:ext cx="2651760" cy="347472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37160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Your Java Pod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77393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JFR 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(-javaagent:cryostat-agent.jar)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371600"/>
            <a:ext cx="2651760" cy="1097280"/>
          </a:xfrm>
          <a:prstGeom prst="rect">
            <a:avLst/>
          </a:prstGeom>
          <a:solidFill>
            <a:srgbClr val="122040"/>
          </a:solidFill>
          <a:ln w="25400">
            <a:solidFill>
              <a:srgbClr val="E83E8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1371600"/>
            <a:ext cx="2651760" cy="347472"/>
          </a:xfrm>
          <a:prstGeom prst="rect">
            <a:avLst/>
          </a:prstGeom>
          <a:solidFill>
            <a:srgbClr val="E83E8C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137160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Cryostat Server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37560" y="177393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REST API + Storage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(Kubernetes Operator)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371600"/>
            <a:ext cx="2651760" cy="1097280"/>
          </a:xfrm>
          <a:prstGeom prst="rect">
            <a:avLst/>
          </a:prstGeom>
          <a:solidFill>
            <a:srgbClr val="122040"/>
          </a:solidFill>
          <a:ln w="2540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371600"/>
            <a:ext cx="2651760" cy="34747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37160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Grafana / JMC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177393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Dashboards + Analysis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(JFR reports)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53512" y="1783080"/>
            <a:ext cx="274320" cy="256032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20" name="Text 18"/>
          <p:cNvSpPr/>
          <p:nvPr/>
        </p:nvSpPr>
        <p:spPr>
          <a:xfrm>
            <a:off x="2953512" y="17830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25312" y="1783080"/>
            <a:ext cx="274320" cy="256032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22" name="Text 20"/>
          <p:cNvSpPr/>
          <p:nvPr/>
        </p:nvSpPr>
        <p:spPr>
          <a:xfrm>
            <a:off x="5925312" y="17830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5760" y="26517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CD4"/>
                </a:solidFill>
              </a:rPr>
              <a:t>Quick Setup (OpenShift Operator):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" y="2999232"/>
            <a:ext cx="8503920" cy="1810512"/>
          </a:xfrm>
          <a:prstGeom prst="rect">
            <a:avLst/>
          </a:prstGeom>
          <a:solidFill>
            <a:srgbClr val="0D2137"/>
          </a:solidFill>
          <a:ln w="19050">
            <a:solidFill>
              <a:srgbClr val="00BC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3044952"/>
            <a:ext cx="8357616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Install via OperatorHub → search "Cryostat" → Install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Annotate your pod for auto-discovery: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annotations: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cryostat.io/scrape_port: "9097"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Add agent JAR to your image: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--from=cryostat/cryostat-agent:latest /cryostat-agent.jar /opt/agent.jar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 JAVA_OPTS="-javaagent:/opt/agent.jar"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a recording (UI or REST API):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 POST http://cryostat:8181/api/v1/targets/{id}/recordings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-d '{"recordingName":"profile","events":"template=Profiling","duration":60}'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Prometheus &amp; Micrometer — JVM Metrics in Production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16/26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777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FC8"/>
                </a:solidFill>
              </a:rPr>
              <a:t>Spring Boot Setup: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4114800" cy="2103120"/>
          </a:xfrm>
          <a:prstGeom prst="rect">
            <a:avLst/>
          </a:prstGeom>
          <a:solidFill>
            <a:srgbClr val="0D2137"/>
          </a:solidFill>
          <a:ln w="19050">
            <a:solidFill>
              <a:srgbClr val="00BC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143000"/>
            <a:ext cx="39684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pom.xml — Spring Boot 4.0.5 BOM manages versions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&lt;dependency&gt;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&lt;groupId&gt;io.micrometer&lt;/groupId&gt;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&lt;artifactId&gt;micrometer-registry-prometheus&lt;/artifactId&gt;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&lt;/dependency&gt;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application.properties (Boot 4.0 property names)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management.endpoints.web.exposure.include=*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management.prometheus.metrics.export.enabled=true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management.endpoint.prometheus.access=unrestricted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management.metrics.tags.application=my-service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663440" y="777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FC8"/>
                </a:solidFill>
              </a:rPr>
              <a:t>Essential JVM Metrics to Monitor: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1605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36592" y="11247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6F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jvm_gc_pause_seconds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995160" y="113385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</a:rPr>
              <a:t>GC pause duration — alert if P99 &gt; 500ms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1490472"/>
            <a:ext cx="4160520" cy="347472"/>
          </a:xfrm>
          <a:prstGeom prst="rect">
            <a:avLst/>
          </a:prstGeom>
          <a:solidFill>
            <a:srgbClr val="F0F4F8"/>
          </a:solidFill>
          <a:ln w="12700">
            <a:solidFill>
              <a:srgbClr val="E0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6592" y="15179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6F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jvm_memory_used_bytes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995160" y="15270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</a:rPr>
              <a:t>Heap &amp; non-heap usage by area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63440" y="1883664"/>
            <a:ext cx="41605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6592" y="19110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6F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jvm_memory_max_bytes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995160" y="1920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</a:rPr>
              <a:t>Container-enforced memory ceiling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2276856"/>
            <a:ext cx="4160520" cy="347472"/>
          </a:xfrm>
          <a:prstGeom prst="rect">
            <a:avLst/>
          </a:prstGeom>
          <a:solidFill>
            <a:srgbClr val="F0F4F8"/>
          </a:solidFill>
          <a:ln w="12700">
            <a:solidFill>
              <a:srgbClr val="E0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36592" y="23042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6F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jvm_threads_live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995160" y="23134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</a:rPr>
              <a:t>Thread count — watch for leaks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63440" y="2670048"/>
            <a:ext cx="41605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36592" y="26974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6F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jvm_classes_loaded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995160" y="270662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</a:rPr>
              <a:t>Class loading activity at startup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3063240"/>
            <a:ext cx="4160520" cy="347472"/>
          </a:xfrm>
          <a:prstGeom prst="rect">
            <a:avLst/>
          </a:prstGeom>
          <a:solidFill>
            <a:srgbClr val="F0F4F8"/>
          </a:solidFill>
          <a:ln w="12700">
            <a:solidFill>
              <a:srgbClr val="E0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36592" y="30906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6F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jvm_buffer_memory_used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995160" y="309981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</a:rPr>
              <a:t>Direct ByteBuffer consumption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663440" y="3456432"/>
            <a:ext cx="41605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36592" y="348386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6F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process_cpu_usage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995160" y="34930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</a:rPr>
              <a:t>JVM CPU — correlate with GC events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5760" y="32461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4855"/>
                </a:solidFill>
              </a:rPr>
              <a:t>PrometheusRule Alert Example: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20040" y="3520440"/>
            <a:ext cx="4114800" cy="1399032"/>
          </a:xfrm>
          <a:prstGeom prst="rect">
            <a:avLst/>
          </a:prstGeom>
          <a:solidFill>
            <a:srgbClr val="0D2137"/>
          </a:solidFill>
          <a:ln w="19050">
            <a:solidFill>
              <a:srgbClr val="00BC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" y="3566160"/>
            <a:ext cx="3968496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alert: JVMHighGCPause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expr: 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histogram_quantile(0.99,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rate(jvm_gc_pause_seconds_bucket[5m])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 &gt; 0.5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for: 2m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labels: { severity: warning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annotations: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summary: "GC P99 pause &gt; 500ms on {{ $labels.pod }}"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663440" y="395020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46E7A"/>
                </a:solidFill>
              </a:rPr>
              <a:t>Grafana JVM Dashboard: grafana.com/grafana/dashboards/4701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Autoscaling Integration — HPA with JVM-Aware Metrics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17/26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0A4AE"/>
                </a:solidFill>
              </a:rPr>
              <a:t>Standard CPU-based HPA is blind to JVM internals — use custom metrics instead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78992"/>
            <a:ext cx="8503920" cy="3520440"/>
          </a:xfrm>
          <a:prstGeom prst="rect">
            <a:avLst/>
          </a:prstGeom>
          <a:solidFill>
            <a:srgbClr val="0D2137"/>
          </a:solidFill>
          <a:ln w="19050">
            <a:solidFill>
              <a:srgbClr val="00BC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124712"/>
            <a:ext cx="8357616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HPA: Scale on RPS not CPU — GC pauses create false CPU spikes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autoscaling/v2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HorizontalPodAutoscaler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 { name: java-app-hpa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scaleTargetRef: { kind: Deployment, name: java-app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minReplicas: 2     # NEVER 1 — single pod + GC stop-the-world = 100% downtime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maxReplicas: 20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behavior: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scaleUp: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stabilizationWindowSeconds: 120  # Absorb GC CPU spikes up to 2min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policies: [{ type: Pods, value: 2, periodSeconds: 60 }]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scaleDown: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stabilizationWindowSeconds: 300  # Hold during post-GC load valleys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metrics: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type: External   # PRIMARY: RPS via KEDA or Prometheus Adapter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external: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metric: { name: http_requests_per_second,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selector: { matchLabels: { app: java-app } }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target: { type: AverageValue, averageValue: "50"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type: External   # SECONDARY: Heap ratio recording rule (scale before OOMKill)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external: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metric: { name: jvm_memory_used_ratio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target: { type: AverageValue, averageValue: "0.80" }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0040" y="4910328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A623"/>
                </a:solidFill>
              </a:rPr>
              <a:t>📖  SRE with Java Microservices: Autoscale on throughput metrics, not CPU — GC pauses create false CPU spikes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Vertical Pod Autoscaler (VPA) for Java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18/26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777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FC8"/>
                </a:solidFill>
              </a:rPr>
              <a:t>VPA Configuration: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4160520" cy="3017520"/>
          </a:xfrm>
          <a:prstGeom prst="rect">
            <a:avLst/>
          </a:prstGeom>
          <a:solidFill>
            <a:srgbClr val="0D2137"/>
          </a:solidFill>
          <a:ln w="19050">
            <a:solidFill>
              <a:srgbClr val="00BC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143000"/>
            <a:ext cx="401421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autoscaling.k8s.io/v1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VerticalPodAutoscaler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java-app-vpa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targetRef: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apiVersion: apps/v1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kind: Deployment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name: java-app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updatePolicy: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updateMode: "Auto"   # or "Off" for recommendations-only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resourcePolicy: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containerPolicies: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containerName: java-app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minAllowed: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memory: "256Mi"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cpu: "100m"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maxAllowed: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memory: "4Gi"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cpu: "4000m"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controlledResources: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 memory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 cpu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663440" y="777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FC8"/>
                </a:solidFill>
              </a:rPr>
              <a:t>VPA Workflow for Java: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160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115568"/>
            <a:ext cx="347472" cy="347472"/>
          </a:xfrm>
          <a:prstGeom prst="ellipse">
            <a:avLst/>
          </a:prstGeom>
          <a:solidFill>
            <a:srgbClr val="1E6FC8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1115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66360" y="1115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FC8"/>
                </a:solidFill>
              </a:rPr>
              <a:t>Observe (Off mode)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166360" y="13898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</a:rPr>
              <a:t>Run VPA in Off mode for 48-72 hrs. Collect memory/CPU recommendations without applying changes.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993392"/>
            <a:ext cx="4160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011680"/>
            <a:ext cx="347472" cy="347472"/>
          </a:xfrm>
          <a:prstGeom prst="ellipse">
            <a:avLst/>
          </a:prstGeom>
          <a:solidFill>
            <a:srgbClr val="1E6FC8"/>
          </a:solidFill>
          <a:ln/>
        </p:spPr>
      </p:sp>
      <p:sp>
        <p:nvSpPr>
          <p:cNvPr id="18" name="Text 16"/>
          <p:cNvSpPr/>
          <p:nvPr/>
        </p:nvSpPr>
        <p:spPr>
          <a:xfrm>
            <a:off x="4709160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66360" y="20116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FC8"/>
                </a:solidFill>
              </a:rPr>
              <a:t>Validate Recommendations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66360" y="2286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</a:rPr>
              <a:t>Compare VPA suggestions vs. your JVM memory budget (heap + off-heap). Ensure MaxRAMPercentage aligns.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889504"/>
            <a:ext cx="4160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2907792"/>
            <a:ext cx="347472" cy="347472"/>
          </a:xfrm>
          <a:prstGeom prst="ellipse">
            <a:avLst/>
          </a:prstGeom>
          <a:solidFill>
            <a:srgbClr val="1E6FC8"/>
          </a:solidFill>
          <a:ln/>
        </p:spPr>
      </p:sp>
      <p:sp>
        <p:nvSpPr>
          <p:cNvPr id="23" name="Text 21"/>
          <p:cNvSpPr/>
          <p:nvPr/>
        </p:nvSpPr>
        <p:spPr>
          <a:xfrm>
            <a:off x="4709160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66360" y="29077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FC8"/>
                </a:solidFill>
              </a:rPr>
              <a:t>Apply (Auto mode)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166360" y="31821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</a:rPr>
              <a:t>Enable Auto mode during low-traffic window. VPA will restart pods with new resource settings.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3785616"/>
            <a:ext cx="4160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3803904"/>
            <a:ext cx="347472" cy="347472"/>
          </a:xfrm>
          <a:prstGeom prst="ellipse">
            <a:avLst/>
          </a:prstGeom>
          <a:solidFill>
            <a:srgbClr val="1E6FC8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3803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66360" y="38039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FC8"/>
                </a:solidFill>
              </a:rPr>
              <a:t>Monitor &amp; Iterate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66360" y="407822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</a:rPr>
              <a:t>Watch for OOMKills and GC pressure changes. Tune MaxRAMPercentage to match new limits.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20040" y="4233672"/>
            <a:ext cx="8503920" cy="6858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233672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A623"/>
                </a:solidFill>
              </a:rPr>
              <a:t>⚠  VPA + HPA Conflict: Don't use both on CPU/memory simultaneously. Use HPA on custom metrics (RPS) + VPA on resource right-sizing, or use KEDA for combined scaling.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Preventing GC-Induced Autoscaling Thrash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19/26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749808"/>
            <a:ext cx="4069080" cy="1261872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8412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🎯  Use Request-Rate HPA, Not CPU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20700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GC pauses create CPU spikes that mislead CPU-based HPA. Scale on http_requests_total or queue depth instead.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749808"/>
            <a:ext cx="4069080" cy="1261872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00600" y="8412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⏱  Extend Stabilization Windows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20700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GC pauses are transient (100-500ms). Default HPA window (0s scaleUp) creates false scale-out. Use stabilizationWindowSeconds: 120-300.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167128"/>
            <a:ext cx="4069080" cy="1261872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225856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📊  Add GC-Aware Alerting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262432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Alert on jvm_gc_pause P99 &gt; 500ms independently of scaling. Distinguish GC events from true load increases.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167128"/>
            <a:ext cx="4069080" cy="1261872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00600" y="225856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🔢  Minimum Replica Count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00600" y="262432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Keep minReplicas ≥ 2. Single-pod deployments with GC pauses = 100% downtime during GC stop-the-world phase.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584448"/>
            <a:ext cx="4069080" cy="1261872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" y="36758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🔄  Correlate GC with Business Metrics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04164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Join GC pause timestamps with error rate and latency. If GC causes SLO breach, tune GC first before scaling out.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3584448"/>
            <a:ext cx="4069080" cy="1261872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00600" y="36758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</a:rPr>
              <a:t>💾  Memory Limit Buffer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00600" y="404164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Set limit 25-30% above request. Prevents OOMKill during GC surges. Use jvm_memory_used ratio metric for early warning.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Systematic Tuning Workflow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20/26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</a:rPr>
              <a:t>Iterative Instrumentation → Diagnosis → Tuning Loop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1188720"/>
            <a:ext cx="21031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188720"/>
            <a:ext cx="2103120" cy="475488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" y="1188720"/>
            <a:ext cx="438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7240" y="118872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Instrument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" y="1737360"/>
            <a:ext cx="1920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Enable JFR + Prometheus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Add Cryostat agent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Deploy Grafana dashboards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441448" y="21945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6FC8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2697480" y="1188720"/>
            <a:ext cx="21031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97480" y="1188720"/>
            <a:ext cx="2103120" cy="475488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16" name="Text 14"/>
          <p:cNvSpPr/>
          <p:nvPr/>
        </p:nvSpPr>
        <p:spPr>
          <a:xfrm>
            <a:off x="2697480" y="1188720"/>
            <a:ext cx="438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154680" y="118872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Baseline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807208" y="1737360"/>
            <a:ext cx="1920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Run load test (k6 / Gatling)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Capture P50/P99 latency &amp; GC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Record resource RSS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18888" y="21945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D4"/>
                </a:solidFill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892040" y="1188720"/>
            <a:ext cx="21031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92040" y="1188720"/>
            <a:ext cx="2103120" cy="47548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1188720"/>
            <a:ext cx="438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49240" y="118872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Diagnose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01768" y="1737360"/>
            <a:ext cx="1920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Analyze JFR in JMC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Identify top allocation sites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Correlate GC with latency spikes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013448" y="21945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</a:rPr>
              <a:t>→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7086600" y="1188720"/>
            <a:ext cx="21031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086600" y="1188720"/>
            <a:ext cx="2103120" cy="475488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8" name="Text 26"/>
          <p:cNvSpPr/>
          <p:nvPr/>
        </p:nvSpPr>
        <p:spPr>
          <a:xfrm>
            <a:off x="7086600" y="1188720"/>
            <a:ext cx="438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543800" y="118872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Tune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96328" y="1737360"/>
            <a:ext cx="1920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Apply one change at a time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GC flags, heap size, thread count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</a:rPr>
              <a:t>Document hypothesis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" y="3886200"/>
            <a:ext cx="8503920" cy="86868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5720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E5C3"/>
                </a:solidFill>
              </a:rPr>
              <a:t>5  Validate &amp; Repeat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422452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Re-run load test → compare against baseline → did P99 latency improve? Did cost decrease?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If yes: commit config. If no: revert + try next hypothesis. Document every change.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Cost Optimization &amp; Business Value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Section 07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21/26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2011680" cy="118872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868680"/>
            <a:ext cx="201168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7AE60"/>
                </a:solidFill>
              </a:rPr>
              <a:t>40-60%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74320" y="14310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Memory reduction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after right-sizing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41448" y="777240"/>
            <a:ext cx="2011680" cy="118872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41448" y="868680"/>
            <a:ext cx="201168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CD4"/>
                </a:solidFill>
              </a:rPr>
              <a:t>2-3×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441448" y="14310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Pod density increase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per node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08576" y="777240"/>
            <a:ext cx="2011680" cy="118872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868680"/>
            <a:ext cx="201168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6FC8"/>
                </a:solidFill>
              </a:rPr>
              <a:t>55%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608576" y="14310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Startup time reduction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with AppCDS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75704" y="777240"/>
            <a:ext cx="2011680" cy="118872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75704" y="868680"/>
            <a:ext cx="201168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</a:rPr>
              <a:t>$$$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775704" y="14310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Node cost savings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</a:rPr>
              <a:t>from bin-packing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2084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F0F1"/>
                </a:solidFill>
              </a:rPr>
              <a:t>Measuring ROI: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20040" y="2468880"/>
            <a:ext cx="8503920" cy="512064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1" name="Shape 19"/>
          <p:cNvSpPr/>
          <p:nvPr/>
        </p:nvSpPr>
        <p:spPr>
          <a:xfrm>
            <a:off x="320040" y="2468880"/>
            <a:ext cx="54864" cy="5120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250545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OpenShift Cost Management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54680" y="2505456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Track pod/namespace resource usage vs. allocated. Compare cost before/after optimization sprint.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" y="3054096"/>
            <a:ext cx="8503920" cy="512064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3054096"/>
            <a:ext cx="54864" cy="5120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090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Node Reduction Formula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54680" y="3090672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Nodes saved = (total pods) / (old density) − (total pods) / (new density). Multiply by node hourly rate.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639312"/>
            <a:ext cx="8503920" cy="512064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3639312"/>
            <a:ext cx="54864" cy="5120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367588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SLO Improvement Value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154680" y="3675888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Fewer OOMKills and GC pauses → fewer on-call incidents → quantify engineer time saved per quarter.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0040" y="4224528"/>
            <a:ext cx="8503920" cy="512064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33" name="Shape 31"/>
          <p:cNvSpPr/>
          <p:nvPr/>
        </p:nvSpPr>
        <p:spPr>
          <a:xfrm>
            <a:off x="320040" y="4224528"/>
            <a:ext cx="54864" cy="5120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426110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Cloud Spend Dashboard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154680" y="4261104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CF0F1"/>
                </a:solidFill>
              </a:rPr>
              <a:t>Use cost.openshift.io + Grafana to create executive-visible cost-per-service trend dashboards.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8485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E84855"/>
                </a:solidFill>
              </a:rPr>
              <a:t>DEMO 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CF0F1"/>
                </a:solidFill>
              </a:rPr>
              <a:t>Container-Aware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CF0F1"/>
                </a:solidFill>
              </a:rPr>
              <a:t>Heap Sizing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4855"/>
                </a:solidFill>
              </a:rPr>
              <a:t>What you'll see: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5212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CF0F1"/>
                </a:solidFill>
              </a:rPr>
              <a:t>Run Spring Boot app WITHOUT UseContainerSupport → observe JVM claiming host RAM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CF0F1"/>
                </a:solidFill>
              </a:rPr>
              <a:t>Run same app WITH UseContainerSupport + MaxRAMPercentage → JVM respects 512m limit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CF0F1"/>
                </a:solidFill>
              </a:rPr>
              <a:t>Live: jcmd output showing heap sizes before and after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CF0F1"/>
                </a:solidFill>
              </a:rPr>
              <a:t>Show OOMKill simulation when JVM ignores container limits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0" y="3017520"/>
            <a:ext cx="2926080" cy="73152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48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 →  kubectl apply  →  jcmd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22/26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8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5A623"/>
                </a:solidFill>
              </a:rPr>
              <a:t>DEMO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CF0F1"/>
                </a:solidFill>
              </a:rPr>
              <a:t>GC Monitoring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CF0F1"/>
                </a:solidFill>
              </a:rPr>
              <a:t>with Prometheus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6060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What you'll see: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971800"/>
            <a:ext cx="5212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CF0F1"/>
                </a:solidFill>
              </a:rPr>
              <a:t>Stack: Spring Boot 4.0.5 + Prometheus + Grafana + Jaeger (OTel)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CF0F1"/>
                </a:solidFill>
              </a:rPr>
              <a:t>Live GC pause P50/P99 histograms: jvm_gc_pause_seconds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CF0F1"/>
                </a:solidFill>
              </a:rPr>
              <a:t>Generate GC pressure — watch Grafana AND Jaeger traces simultaneously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CF0F1"/>
                </a:solidFill>
              </a:rPr>
              <a:t>G1GC vs Generational ZGC side-by-side pause comparison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CF0F1"/>
                </a:solidFill>
              </a:rPr>
              <a:t>Virtual threads demo: 500 concurrent tasks, minimal platform thread count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0" y="3017520"/>
            <a:ext cx="2926080" cy="73152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23/26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8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27AE60"/>
                </a:solidFill>
              </a:rPr>
              <a:t>DEMO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CF0F1"/>
                </a:solidFill>
              </a:rPr>
              <a:t>AppCDS Startup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CF0F1"/>
                </a:solidFill>
              </a:rPr>
              <a:t>Acceleration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6060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</a:rPr>
              <a:t>What you'll see: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971800"/>
            <a:ext cx="5212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CF0F1"/>
                </a:solidFill>
              </a:rPr>
              <a:t>Baseline startup time: plain java -jar (4-6 seconds)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CF0F1"/>
                </a:solidFill>
              </a:rPr>
              <a:t>Generate AppCDS archive: class list + shared archive creation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CF0F1"/>
                </a:solidFill>
              </a:rPr>
              <a:t>Startup with AppCDS: same app, 35-55% faster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CF0F1"/>
                </a:solidFill>
              </a:rPr>
              <a:t>Docker multi-stage build pattern for AppCDS in containers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CF0F1"/>
                </a:solidFill>
              </a:rPr>
              <a:t>Measure: time docker run ... (before vs. after)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0" y="3017520"/>
            <a:ext cx="2926080" cy="73152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./demo.sh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24/26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811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CD4"/>
                </a:solidFill>
              </a:rPr>
              <a:t>Key Takeaways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73152"/>
            <a:ext cx="1645920" cy="502920"/>
          </a:xfrm>
          <a:prstGeom prst="rect">
            <a:avLst>
              <a:gd name="adj" fmla="val 10909"/>
            </a:avLst>
          </a:prstGeom>
          <a:solidFill>
            <a:srgbClr val="1E6FC8"/>
          </a:solidFill>
          <a:ln/>
        </p:spPr>
        <p:txBody>
          <a:bodyPr wrap="square" lIns="0" tIns="76200" rIns="762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F0F1"/>
                </a:solidFill>
              </a:rPr>
              <a:t>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E6FC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CF0F1"/>
                </a:solidFill>
              </a:rPr>
              <a:t>Taming the JVM: Java Optimization on OpenShift   |   25/26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822960"/>
            <a:ext cx="850392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909828"/>
            <a:ext cx="347472" cy="347472"/>
          </a:xfrm>
          <a:prstGeom prst="ellipse">
            <a:avLst/>
          </a:prstGeom>
          <a:solidFill>
            <a:srgbClr val="1E6FC8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" y="9098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85953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</a:rPr>
              <a:t>Always enable UseContainerSupport + MaxRAMPercentage — hardcoded -Xmx is a container anti-pattern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" y="1417320"/>
            <a:ext cx="850392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7472" y="1504188"/>
            <a:ext cx="347472" cy="347472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" y="15041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145389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</a:rPr>
              <a:t>Right-size first, then tune — measure RSS + off-heap before setting resource requests and limits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2011680"/>
            <a:ext cx="850392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7472" y="2098548"/>
            <a:ext cx="347472" cy="34747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" y="20985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204825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</a:rPr>
              <a:t>Match GC to workload — G1GC for general use, ZGC/Shenandoah for latency-sensitive APIs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0040" y="2606040"/>
            <a:ext cx="850392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7472" y="2692908"/>
            <a:ext cx="347472" cy="34747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1" name="Text 19"/>
          <p:cNvSpPr/>
          <p:nvPr/>
        </p:nvSpPr>
        <p:spPr>
          <a:xfrm>
            <a:off x="347472" y="26929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264261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</a:rPr>
              <a:t>AppCDS + tiered compilation can cut startup by 35-55% — essential for HPA scale-out responsiveness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20040" y="3200400"/>
            <a:ext cx="850392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47472" y="3287268"/>
            <a:ext cx="347472" cy="347472"/>
          </a:xfrm>
          <a:prstGeom prst="ellipse">
            <a:avLst/>
          </a:prstGeom>
          <a:solidFill>
            <a:srgbClr val="E84855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" y="32872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" y="32369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</a:rPr>
              <a:t>Observe before you tune — JFR + Cryostat + Prometheus gives you data to validate every change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20040" y="3794760"/>
            <a:ext cx="850392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47472" y="3881628"/>
            <a:ext cx="347472" cy="34747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" y="38816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2960" y="383133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</a:rPr>
              <a:t>Autoscale on RPS, not CPU — GC pauses create false CPU spikes that make HPA thrash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20040" y="4389120"/>
            <a:ext cx="850392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47472" y="4475988"/>
            <a:ext cx="347472" cy="347472"/>
          </a:xfrm>
          <a:prstGeom prst="ellipse">
            <a:avLst/>
          </a:prstGeom>
          <a:solidFill>
            <a:srgbClr val="1E6FC8"/>
          </a:solidFill>
          <a:ln/>
        </p:spPr>
      </p:sp>
      <p:sp>
        <p:nvSpPr>
          <p:cNvPr id="33" name="Text 31"/>
          <p:cNvSpPr/>
          <p:nvPr/>
        </p:nvSpPr>
        <p:spPr>
          <a:xfrm>
            <a:off x="347472" y="44759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2960" y="442569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</a:rPr>
              <a:t>Quantify savings — track cost per namespace before/after to show business value from engineering work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0F1"/>
                </a:solidFill>
              </a:rPr>
              <a:t>Resources &amp; Q&amp;A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69080" cy="1005840"/>
          </a:xfrm>
          <a:prstGeom prst="rect">
            <a:avLst/>
          </a:prstGeom>
          <a:solidFill>
            <a:srgbClr val="1E6FC8">
              <a:alpha val="80000"/>
            </a:srgbClr>
          </a:solidFill>
          <a:ln w="19050">
            <a:solidFill>
              <a:srgbClr val="1E6F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📗  Optimizing Cloud Native Java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</a:rPr>
              <a:t>Benjamin Evans, Jason Gauci et al.  |  O'Reilly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14400"/>
            <a:ext cx="4069080" cy="1005840"/>
          </a:xfrm>
          <a:prstGeom prst="rect">
            <a:avLst/>
          </a:prstGeom>
          <a:solidFill>
            <a:srgbClr val="00BCD4">
              <a:alpha val="80000"/>
            </a:srgbClr>
          </a:solidFill>
          <a:ln w="19050">
            <a:solidFill>
              <a:srgbClr val="00BC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960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📗  SRE with Java Microservices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0600" y="138988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</a:rPr>
              <a:t>Jonathan Schneider  |  O'Reilly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103120"/>
            <a:ext cx="4069080" cy="402336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12" name="Text 10"/>
          <p:cNvSpPr/>
          <p:nvPr/>
        </p:nvSpPr>
        <p:spPr>
          <a:xfrm>
            <a:off x="429768" y="210312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Repo:  github.com/[your-repo]/java-openshift-optimization-demos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103120"/>
            <a:ext cx="4069080" cy="402336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14" name="Text 12"/>
          <p:cNvSpPr/>
          <p:nvPr/>
        </p:nvSpPr>
        <p:spPr>
          <a:xfrm>
            <a:off x="4773168" y="210312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Cryostat:  cryostat.io  |  operatorhub.io/operator/cryostat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2578608"/>
            <a:ext cx="4069080" cy="402336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" y="257860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JVM Tuning Guide:  access.redhat.com/articles/2988411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578608"/>
            <a:ext cx="4069080" cy="402336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18" name="Text 16"/>
          <p:cNvSpPr/>
          <p:nvPr/>
        </p:nvSpPr>
        <p:spPr>
          <a:xfrm>
            <a:off x="4773168" y="257860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Grafana JVM:  grafana.com/grafana/dashboards/4701 (Micrometer JVM dashboard)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054096"/>
            <a:ext cx="4069080" cy="402336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0" name="Text 18"/>
          <p:cNvSpPr/>
          <p:nvPr/>
        </p:nvSpPr>
        <p:spPr>
          <a:xfrm>
            <a:off x="429768" y="305409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KEDA:  keda.sh  — Kubernetes Event-Driven Autoscaling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3054096"/>
            <a:ext cx="4069080" cy="402336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22" name="Text 20"/>
          <p:cNvSpPr/>
          <p:nvPr/>
        </p:nvSpPr>
        <p:spPr>
          <a:xfrm>
            <a:off x="4773168" y="305409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OpenShift Cost:  console.redhat.com/openshift/cost-management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794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BCD4"/>
                </a:solidFill>
              </a:rPr>
              <a:t>Questions?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457200" y="4462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</a:rPr>
              <a:t>Slides + demos available at the GitHub repo above.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</a:rPr>
              <a:t>Feedback &amp; PRs welcome!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583680" y="3200400"/>
            <a:ext cx="2926080" cy="2926080"/>
          </a:xfrm>
          <a:prstGeom prst="ellipse">
            <a:avLst/>
          </a:prstGeom>
          <a:solidFill>
            <a:srgbClr val="00BCD4">
              <a:alpha val="10000"/>
            </a:srgbClr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36576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BCD4"/>
                </a:solidFill>
              </a:rPr>
              <a:t>Thank You!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Taming the JVM: Optimizing Java Workloads on OpenShift &amp; Kubernetes</dc:title>
  <dc:subject>PptxGenJS Presentation</dc:subject>
  <dc:creator>Java on OpenShift Optimization</dc:creator>
  <cp:lastModifiedBy>Java on OpenShift Optimization</cp:lastModifiedBy>
  <cp:revision>1</cp:revision>
  <dcterms:created xsi:type="dcterms:W3CDTF">2026-04-03T17:35:42Z</dcterms:created>
  <dcterms:modified xsi:type="dcterms:W3CDTF">2026-04-03T17:35:42Z</dcterms:modified>
</cp:coreProperties>
</file>